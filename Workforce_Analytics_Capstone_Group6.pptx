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00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731520"/>
            <a:ext cx="3566160" cy="3566160"/>
          </a:xfrm>
          <a:prstGeom prst="ellipse">
            <a:avLst/>
          </a:prstGeom>
          <a:ln w="15875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GENERATION GHANA &amp; KENYA DATA ANALYTICS PROGRAMME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Analytics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Diagnosis of Talent, Performance &amp; Retention Risk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92608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86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Roblox HRMS Dashboard  ·  30,000-Employee Workforce Study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Group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MySQL  ·  Power BI  ·  Executive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Spreadsheets to Boardroom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analytics pipeline behind every number in this deck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39087" y="2651760"/>
            <a:ext cx="8510778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3108960"/>
            <a:ext cx="2580894" cy="2606040"/>
          </a:xfrm>
          <a:prstGeom prst="roundRect">
            <a:avLst>
              <a:gd name="adj" fmla="val 283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7627" y="2148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87627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337560"/>
            <a:ext cx="21785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21785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 cleaned and standardised in Excel  duplicates, nulls and inconsistent categories resolved.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5566" y="3108960"/>
            <a:ext cx="2580894" cy="2606040"/>
          </a:xfrm>
          <a:prstGeom prst="roundRect">
            <a:avLst>
              <a:gd name="adj" fmla="val 283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4553" y="2148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24553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86734" y="3337560"/>
            <a:ext cx="21785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6734" y="3840480"/>
            <a:ext cx="21785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imported into MySQL, structured into relational tables for reliable, repeatable querying.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2492" y="3108960"/>
            <a:ext cx="2580894" cy="2606040"/>
          </a:xfrm>
          <a:prstGeom prst="roundRect">
            <a:avLst>
              <a:gd name="adj" fmla="val 283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1479" y="2148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1479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3660" y="3337560"/>
            <a:ext cx="21785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3660" y="3840480"/>
            <a:ext cx="21785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built across five analytical pages, using DAX measures and interactive slicers.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9418" y="3108960"/>
            <a:ext cx="2580894" cy="2606040"/>
          </a:xfrm>
          <a:prstGeom prst="roundRect">
            <a:avLst>
              <a:gd name="adj" fmla="val 283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98405" y="2148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98405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60586" y="3337560"/>
            <a:ext cx="21785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Reporting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60586" y="3840480"/>
            <a:ext cx="21785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 from Power BI.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Relational Model Built for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tables in Power BI, star-schemed around a single employee hub for reliable DAX measures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7580376" cy="4745736"/>
          </a:xfrm>
          <a:prstGeom prst="roundRect">
            <a:avLst>
              <a:gd name="adj" fmla="val 1156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6" name="Image 0" descr="media/media/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69648"/>
            <a:ext cx="7360920" cy="38274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520440" cy="452628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375904" y="2157984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Design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75904" y="2615184"/>
            <a:ext cx="3044952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75904" y="2852928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8"/>
          <p:cNvSpPr/>
          <p:nvPr/>
        </p:nvSpPr>
        <p:spPr>
          <a:xfrm>
            <a:off x="8558784" y="2743200"/>
            <a:ext cx="28620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sits at the centre, joined 1-to-many to performance, health, finance and education records.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75904" y="3767328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558784" y="3657600"/>
            <a:ext cx="28620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department_performance roll up individual staff into departmental KPIs via department_code.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75904" y="4681728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2"/>
          <p:cNvSpPr/>
          <p:nvPr/>
        </p:nvSpPr>
        <p:spPr>
          <a:xfrm>
            <a:off x="8558784" y="4572000"/>
            <a:ext cx="28620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links (employee - health, employee - finance) keep sensitive attributes in separate, permission-friendly tables.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75904" y="5596128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4"/>
          <p:cNvSpPr/>
          <p:nvPr/>
        </p:nvSpPr>
        <p:spPr>
          <a:xfrm>
            <a:off x="8558784" y="5486400"/>
            <a:ext cx="28620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structure lets every dashboard page slice by department, education or role without duplicating data.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Workforce, By the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30,000-employee organisation across 8 departments — high performance, but real retention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12848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374136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5566" y="2011680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2726" y="2212848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2726" y="3374136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2492" y="2011680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9652" y="2212848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40.98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9652" y="3374136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(yrs)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9418" y="2011680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96578" y="2212848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$104.07M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96578" y="3374136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Department Revenue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97096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98264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5559552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Degree or Higher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5566" y="4197096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2726" y="4398264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32.9%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522726" y="5559552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22492" y="4197096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4398264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67.8%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59652" y="5559552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Flagged At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9418" y="4197096"/>
            <a:ext cx="2580894" cy="1929384"/>
          </a:xfrm>
          <a:prstGeom prst="roundRect">
            <a:avLst>
              <a:gd name="adj" fmla="val 3318"/>
            </a:avLst>
          </a:prstGeom>
          <a:solidFill>
            <a:srgbClr val="141A47"/>
          </a:solidFill>
          <a:ln w="12700">
            <a:solidFill>
              <a:srgbClr val="2E3A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4398264"/>
            <a:ext cx="2306574" cy="10607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$8.8K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96578" y="5559552"/>
            <a:ext cx="230657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Basic Salary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 · WORKFORCE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Hiring and Placing the Right Talent?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employees spread evenly across 8 departments, with balanced gender representation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856232"/>
            <a:ext cx="7397496" cy="4791456"/>
          </a:xfrm>
          <a:prstGeom prst="roundRect">
            <a:avLst>
              <a:gd name="adj" fmla="val 1145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6" name="Image 0" descr="media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3" y="1965960"/>
            <a:ext cx="7092315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965960"/>
            <a:ext cx="3703320" cy="4572000"/>
          </a:xfrm>
          <a:prstGeom prst="roundRect">
            <a:avLst>
              <a:gd name="adj" fmla="val 172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11312" y="222199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11312" y="2679192"/>
            <a:ext cx="3191256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11312" y="2916936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8"/>
          <p:cNvSpPr/>
          <p:nvPr/>
        </p:nvSpPr>
        <p:spPr>
          <a:xfrm>
            <a:off x="8394192" y="2807208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departments sit within a tight 3.7K–3.8K headcount band - no single function dominates.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11312" y="3849624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394192" y="3739896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close to even organisation-wide: 15,007 male vs 14,993 female.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11312" y="4782312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4672584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and Master's degree holders make up roughly two-thirds of the workforce.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11312" y="5715000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4"/>
          <p:cNvSpPr/>
          <p:nvPr/>
        </p:nvSpPr>
        <p:spPr>
          <a:xfrm>
            <a:off x="8394192" y="5605272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distribution is flat: Executive, Consultant, Analyst and Developer each carry ~5K staff, suggesting limited hierarchy depth.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 · EDUCATION &amp; COMPENSATION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Education Influence Performance &amp; Pay?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shapes where people land — but barely moves what they earn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856232"/>
            <a:ext cx="7397496" cy="4791456"/>
          </a:xfrm>
          <a:prstGeom prst="roundRect">
            <a:avLst>
              <a:gd name="adj" fmla="val 1145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6" name="Image 0" descr="media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9321"/>
            <a:ext cx="7178040" cy="45652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965960"/>
            <a:ext cx="3703320" cy="4572000"/>
          </a:xfrm>
          <a:prstGeom prst="roundRect">
            <a:avLst>
              <a:gd name="adj" fmla="val 172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11312" y="222199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11312" y="2679192"/>
            <a:ext cx="3191256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11312" y="2916936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8"/>
          <p:cNvSpPr/>
          <p:nvPr/>
        </p:nvSpPr>
        <p:spPr>
          <a:xfrm>
            <a:off x="8394192" y="2807208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Information Systems and Computer Science graduates account for the largest share of placements.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11312" y="3849624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394192" y="3739896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degree holders are the largest education segment (10.6K), just ahead of Bachelor's (10.0K).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11312" y="4782312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4672584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basic salary is flat at ~$8.8K across every education level - pay isn't scaling with qualification.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11312" y="5715000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4"/>
          <p:cNvSpPr/>
          <p:nvPr/>
        </p:nvSpPr>
        <p:spPr>
          <a:xfrm>
            <a:off x="8394192" y="5605272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carries the highest total workforce cost ($39.8M); Operations the lowest ($38.5M).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 · PRODUCTIVITY &amp;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Employee Investments Translating Into Output?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consistently strong, but revenue efficiency diverges sharply by department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856232"/>
            <a:ext cx="7397496" cy="4791456"/>
          </a:xfrm>
          <a:prstGeom prst="roundRect">
            <a:avLst>
              <a:gd name="adj" fmla="val 1145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6" name="Image 0" descr="Productivity and Investment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3" y="2501019"/>
            <a:ext cx="6255632" cy="35018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965960"/>
            <a:ext cx="3703320" cy="4572000"/>
          </a:xfrm>
          <a:prstGeom prst="roundRect">
            <a:avLst>
              <a:gd name="adj" fmla="val 172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11312" y="222199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11312" y="2679192"/>
            <a:ext cx="3191256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11312" y="2916936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8"/>
          <p:cNvSpPr/>
          <p:nvPr/>
        </p:nvSpPr>
        <p:spPr>
          <a:xfrm>
            <a:off x="8394192" y="2807208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HR, Customer Support and Operations all post the top average performance score of 4.0.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11312" y="3849624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394192" y="3739896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(3.5) and Engineering (3.6) trail the rest despite comparable training investment.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11312" y="4782312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4672584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delivers the strongest revenue-to-cost spread: $20.2M revenue against just $12.9M cost.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11312" y="5715000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4"/>
          <p:cNvSpPr/>
          <p:nvPr/>
        </p:nvSpPr>
        <p:spPr>
          <a:xfrm>
            <a:off x="8394192" y="5605272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 doesn't clearly predict performance - several lean-budget teams outperform bigger-spend ones.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 · WORKFORCE RISK &amp; WELLBEING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the Hidden Workforce Risks?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and coverage gaps point to a retention problem hiding behind strong performance scores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856232"/>
            <a:ext cx="7397496" cy="4791456"/>
          </a:xfrm>
          <a:prstGeom prst="roundRect">
            <a:avLst>
              <a:gd name="adj" fmla="val 1145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6" name="Image 0" descr="media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7507"/>
            <a:ext cx="7178040" cy="4128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965960"/>
            <a:ext cx="3703320" cy="4572000"/>
          </a:xfrm>
          <a:prstGeom prst="roundRect">
            <a:avLst>
              <a:gd name="adj" fmla="val 172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11312" y="222199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11312" y="2679192"/>
            <a:ext cx="3191256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11312" y="2916936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8"/>
          <p:cNvSpPr/>
          <p:nvPr/>
        </p:nvSpPr>
        <p:spPr>
          <a:xfrm>
            <a:off x="8394192" y="2807208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Organisation-wide attrition sits at 32.9% - roughly one in three employees.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11312" y="3849624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0"/>
          <p:cNvSpPr/>
          <p:nvPr/>
        </p:nvSpPr>
        <p:spPr>
          <a:xfrm>
            <a:off x="8394192" y="3739896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has the highest departmental attrition at 35.1%, despite steady 4.0 performance.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11312" y="4782312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4672584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9,920 employees have expired insurance coverage  a compliance and wellbeing exposure.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11312" y="5715000"/>
            <a:ext cx="82296" cy="8229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4"/>
          <p:cNvSpPr/>
          <p:nvPr/>
        </p:nvSpPr>
        <p:spPr>
          <a:xfrm>
            <a:off x="8394192" y="5605272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 of the workforce falls into the “at risk” band  the single biggest flag in this study.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ANALYTICS INTO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workforce composition, performance, compensation, training and risk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17820" cy="1632204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5740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5740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2057400"/>
            <a:ext cx="4320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532888"/>
            <a:ext cx="5015484" cy="809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35.1% attrition despite 4.0 performance.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workload, compensation and working conditions.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high-performing workforce capacity.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2492" y="1874520"/>
            <a:ext cx="5417820" cy="1632204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3660" y="205740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23660" y="205740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18604" y="2057400"/>
            <a:ext cx="4320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3660" y="2532888"/>
            <a:ext cx="5015484" cy="809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— 3.5 performance; $9.5M revenue vs $6.4M cost.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processes, role allocation and training effectiveness.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productivity before increasing investment.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62756"/>
            <a:ext cx="5417820" cy="1632204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945636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3FA79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945636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44752" y="3945636"/>
            <a:ext cx="4320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PLANNING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4421124"/>
            <a:ext cx="5015484" cy="809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— 3.8 performance but lowest departmental revenue ($5.1M).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workforce utilisation and how internal value is measured.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evidence-based hiring and resource allocation.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22492" y="3762756"/>
            <a:ext cx="5417820" cy="1632204"/>
          </a:xfrm>
          <a:prstGeom prst="roundRect">
            <a:avLst>
              <a:gd name="adj" fmla="val 3922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3660" y="3945636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41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23660" y="3945636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18604" y="3945636"/>
            <a:ext cx="4320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RISK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23660" y="4421124"/>
            <a:ext cx="5015484" cy="809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— second-highest attrition (33.8%) at 3.6 performance.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retention drivers and capability gaps.</a:t>
            </a:r>
            <a:endParaRPr lang="en-US" sz="1050" dirty="0"/>
          </a:p>
          <a:p>
            <a:pPr marL="0" indent="0">
              <a:lnSpc>
                <a:spcPct val="11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workforce risk and lift performance.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9612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96128"/>
            <a:ext cx="10652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ORGANISATION-WIDE PRIORITY   </a:t>
            </a:r>
            <a:r>
              <a:rPr lang="en-US" sz="1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Product Management      </a:t>
            </a: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Data and Analytics      </a:t>
            </a:r>
            <a:r>
              <a:rPr lang="en-US" sz="12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HR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4206240" cy="4206240"/>
          </a:xfrm>
          <a:prstGeom prst="ellipse">
            <a:avLst/>
          </a:prstGeom>
          <a:ln w="15875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Group 6 Workforce Analytics Capstone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2926080" cy="0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Members: Dennis, Daniel, Comfort, Henry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Ghana &amp; Kenya Data Analytics Programme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MySQL  ·  Excel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897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DENNIS MURITHI</cp:lastModifiedBy>
  <cp:revision>5</cp:revision>
  <dcterms:created xsi:type="dcterms:W3CDTF">2026-08-09T16:13:12Z</dcterms:created>
  <dcterms:modified xsi:type="dcterms:W3CDTF">2026-08-11T21:01:49Z</dcterms:modified>
</cp:coreProperties>
</file>